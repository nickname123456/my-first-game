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47d15eb2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47d15eb2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7d15eb2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47d15eb2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47d15eb2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47d15eb21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47d15eb2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47d15eb21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3d1cb0b6c8a75da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63d1cb0b6c8a75da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63d1cb0b6c8a75da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63d1cb0b6c8a75da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42" r="1" t="0"/>
          <a:stretch/>
        </p:blipFill>
        <p:spPr>
          <a:xfrm>
            <a:off x="0" y="0"/>
            <a:ext cx="1214921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12632" l="9884" r="3901" t="12302"/>
          <a:stretch/>
        </p:blipFill>
        <p:spPr>
          <a:xfrm>
            <a:off x="3440414" y="393929"/>
            <a:ext cx="2229493" cy="130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03851" y="440000"/>
            <a:ext cx="1145277" cy="50279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440414" y="2346106"/>
            <a:ext cx="7488832" cy="233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Arial"/>
              <a:buNone/>
            </a:pPr>
            <a:r>
              <a:rPr b="1" lang="ru-RU" sz="5400">
                <a:solidFill>
                  <a:srgbClr val="0070C0"/>
                </a:solidFill>
              </a:rPr>
              <a:t>PM simulator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3499398" y="4143625"/>
            <a:ext cx="63771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Выполнил: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600">
                <a:solidFill>
                  <a:schemeClr val="dk1"/>
                </a:solidFill>
              </a:rPr>
              <a:t>Арзамасцев Кирилл Олегович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Группа </a:t>
            </a:r>
            <a:r>
              <a:rPr b="1" lang="ru-RU" sz="2600">
                <a:solidFill>
                  <a:schemeClr val="dk1"/>
                </a:solidFill>
              </a:rPr>
              <a:t>РИ-150931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Преподаватель: </a:t>
            </a:r>
            <a:r>
              <a:rPr lang="ru-RU" sz="2600">
                <a:solidFill>
                  <a:schemeClr val="dk1"/>
                </a:solidFill>
              </a:rPr>
              <a:t>Стрельцов В. В.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Основная идея</a:t>
            </a:r>
            <a:endParaRPr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latin typeface="Arial"/>
                <a:ea typeface="Arial"/>
                <a:cs typeface="Arial"/>
                <a:sym typeface="Arial"/>
              </a:rPr>
              <a:t>Описание: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 Ироничный симулятор работы проджект-менеджера в маленьком IT-стартапе перед релизом. Игрок распределяет задачи, решает проблемы команды и реагирует на кризисы: баги, внезапные правки заказчика и горящие дедлайны. Каждое решение влияет на качество продукта, мораль команды и шанс успешного релиза.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latin typeface="Arial"/>
                <a:ea typeface="Arial"/>
                <a:cs typeface="Arial"/>
                <a:sym typeface="Arial"/>
              </a:rPr>
              <a:t>Жанр: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 2D top-down тайм-менеджмент / стратегия / симулятор офиса.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latin typeface="Arial"/>
                <a:ea typeface="Arial"/>
                <a:cs typeface="Arial"/>
                <a:sym typeface="Arial"/>
              </a:rPr>
              <a:t>Цель игрока: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 довести продукт до релиза, сохранив бюджет, доверие заказчика и работоспособность команды.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2000">
                <a:latin typeface="Arial"/>
                <a:ea typeface="Arial"/>
                <a:cs typeface="Arial"/>
                <a:sym typeface="Arial"/>
              </a:rPr>
              <a:t>Главное действие игрока:</a:t>
            </a:r>
            <a:r>
              <a:rPr lang="ru-RU" sz="2000">
                <a:latin typeface="Arial"/>
                <a:ea typeface="Arial"/>
                <a:cs typeface="Arial"/>
                <a:sym typeface="Arial"/>
              </a:rPr>
              <a:t> перемещаться по офису, общаться с сотрудниками, назначать задачи и принимать решения в кризисных ситуациях.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Игровые механики</a:t>
            </a:r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266325" y="1342925"/>
            <a:ext cx="117297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Управление: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перемещение по офису — </a:t>
            </a:r>
            <a:r>
              <a:rPr lang="ru-RU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WASD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, взаимодействие с объектами и сотрудниками — </a:t>
            </a:r>
            <a:r>
              <a:rPr lang="ru-RU" sz="19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Задачи: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игрок берет задачи с канбан-доски и назначает их подходящим специалистам. Ошибки в распределении и перегрузка команды повышают риск кризисов.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Решения: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при возникновении проблем игрок выбирает способ реакции: помочь, подключить сотрудника, потратить бюджет, перенести дедлайн или проигнорировать ситуацию.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Кризисы: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события ограничены по времени и влияют на качество продукта, мораль команды, бюджет и доверие заказчика.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Финал: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за ограниченное время нужно довести проект до релиза. Итоговая оценка зависит от выполненных задач, состояния команды, качества продукта, бюджета и технического долга.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Победа: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успешный релиз при сохранении ключевых показателей.</a:t>
            </a:r>
            <a:br>
              <a:rPr lang="ru-RU" sz="1900">
                <a:latin typeface="Arial"/>
                <a:ea typeface="Arial"/>
                <a:cs typeface="Arial"/>
                <a:sym typeface="Arial"/>
              </a:rPr>
            </a:br>
            <a:r>
              <a:rPr b="1" lang="ru-RU" sz="1900">
                <a:latin typeface="Arial"/>
                <a:ea typeface="Arial"/>
                <a:cs typeface="Arial"/>
                <a:sym typeface="Arial"/>
              </a:rPr>
              <a:t>Поражение:</a:t>
            </a:r>
            <a:r>
              <a:rPr lang="ru-RU" sz="1900">
                <a:latin typeface="Arial"/>
                <a:ea typeface="Arial"/>
                <a:cs typeface="Arial"/>
                <a:sym typeface="Arial"/>
              </a:rPr>
              <a:t> обнуление ресурсов или критический технический долг.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Требования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653808" y="87170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400">
                <a:latin typeface="Arial"/>
                <a:ea typeface="Arial"/>
                <a:cs typeface="Arial"/>
                <a:sym typeface="Arial"/>
              </a:rPr>
              <a:t>Цель MVP:</a:t>
            </a:r>
            <a:r>
              <a:rPr lang="ru-RU" sz="1400">
                <a:latin typeface="Arial"/>
                <a:ea typeface="Arial"/>
                <a:cs typeface="Arial"/>
                <a:sym typeface="Arial"/>
              </a:rPr>
              <a:t> создать короткую игровую сессию, в которой игрок управляет IT-командой и доводит проект до релиза.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400">
                <a:latin typeface="Arial"/>
                <a:ea typeface="Arial"/>
                <a:cs typeface="Arial"/>
                <a:sym typeface="Arial"/>
              </a:rPr>
              <a:t>Основные функции: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перемещение по офису и взаимодействие с объектами;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канбан-доска с назначением задач;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5 сотрудников с разными ролями и состояниями;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кризисные события, диалоги и последствия решений;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HUD с ресурсами проекта;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экран победы/поражения и сохранение рекорда.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400">
                <a:latin typeface="Arial"/>
                <a:ea typeface="Arial"/>
                <a:cs typeface="Arial"/>
                <a:sym typeface="Arial"/>
              </a:rPr>
              <a:t>Условия завершения:</a:t>
            </a:r>
            <a:br>
              <a:rPr b="1" lang="ru-RU" sz="1400"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latin typeface="Arial"/>
                <a:ea typeface="Arial"/>
                <a:cs typeface="Arial"/>
                <a:sym typeface="Arial"/>
              </a:rPr>
              <a:t> Победа — релиз и минимум </a:t>
            </a:r>
            <a:r>
              <a:rPr b="1" lang="ru-RU" sz="1400">
                <a:latin typeface="Arial"/>
                <a:ea typeface="Arial"/>
                <a:cs typeface="Arial"/>
                <a:sym typeface="Arial"/>
              </a:rPr>
              <a:t>6 выполненных задач</a:t>
            </a:r>
            <a:r>
              <a:rPr lang="ru-RU" sz="14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ru-RU" sz="1400"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latin typeface="Arial"/>
                <a:ea typeface="Arial"/>
                <a:cs typeface="Arial"/>
                <a:sym typeface="Arial"/>
              </a:rPr>
              <a:t> Поражение — обнуление бюджета, морали, качества или доверия либо техдолг </a:t>
            </a:r>
            <a:r>
              <a:rPr b="1" lang="ru-RU" sz="1400">
                <a:latin typeface="Arial"/>
                <a:ea typeface="Arial"/>
                <a:cs typeface="Arial"/>
                <a:sym typeface="Arial"/>
              </a:rPr>
              <a:t>100</a:t>
            </a:r>
            <a:r>
              <a:rPr lang="ru-RU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ru-RU" sz="1400">
                <a:latin typeface="Arial"/>
                <a:ea typeface="Arial"/>
                <a:cs typeface="Arial"/>
                <a:sym typeface="Arial"/>
              </a:rPr>
              <a:t>Ограничения первой версии:</a:t>
            </a:r>
            <a:br>
              <a:rPr b="1" lang="ru-RU" sz="1400"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latin typeface="Arial"/>
                <a:ea typeface="Arial"/>
                <a:cs typeface="Arial"/>
                <a:sym typeface="Arial"/>
              </a:rPr>
              <a:t> Без полноценных сохранений, звука, сложной графики, нескольких уровней, сетевого режима и продвинутого AI.</a:t>
            </a:r>
            <a:endParaRPr sz="1400"/>
          </a:p>
        </p:txBody>
      </p:sp>
      <p:sp>
        <p:nvSpPr>
          <p:cNvPr id="116" name="Google Shape;116;p16"/>
          <p:cNvSpPr txBox="1"/>
          <p:nvPr/>
        </p:nvSpPr>
        <p:spPr>
          <a:xfrm>
            <a:off x="7387375" y="1516000"/>
            <a:ext cx="30000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Измеримые критерии: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длительность сессии: </a:t>
            </a:r>
            <a:r>
              <a:rPr b="1" lang="ru-RU">
                <a:solidFill>
                  <a:schemeClr val="dk1"/>
                </a:solidFill>
              </a:rPr>
              <a:t>2–3 минуты</a:t>
            </a:r>
            <a:r>
              <a:rPr lang="ru-RU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сотрудники: </a:t>
            </a:r>
            <a:r>
              <a:rPr b="1" lang="ru-RU">
                <a:solidFill>
                  <a:schemeClr val="dk1"/>
                </a:solidFill>
              </a:rPr>
              <a:t>5</a:t>
            </a:r>
            <a:r>
              <a:rPr lang="ru-RU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шаблоны задач: </a:t>
            </a:r>
            <a:r>
              <a:rPr b="1" lang="ru-RU">
                <a:solidFill>
                  <a:schemeClr val="dk1"/>
                </a:solidFill>
              </a:rPr>
              <a:t>от 12</a:t>
            </a:r>
            <a:r>
              <a:rPr lang="ru-RU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типы кризисов: </a:t>
            </a:r>
            <a:r>
              <a:rPr b="1" lang="ru-RU">
                <a:solidFill>
                  <a:schemeClr val="dk1"/>
                </a:solidFill>
              </a:rPr>
              <a:t>от 5</a:t>
            </a:r>
            <a:r>
              <a:rPr lang="ru-RU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производительность: </a:t>
            </a:r>
            <a:r>
              <a:rPr b="1" lang="ru-RU">
                <a:solidFill>
                  <a:schemeClr val="dk1"/>
                </a:solidFill>
              </a:rPr>
              <a:t>не ниже 30 FPS</a:t>
            </a:r>
            <a:r>
              <a:rPr lang="ru-RU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>
                <a:solidFill>
                  <a:schemeClr val="dk1"/>
                </a:solidFill>
              </a:rPr>
              <a:t>окно: </a:t>
            </a:r>
            <a:r>
              <a:rPr b="1" lang="ru-RU">
                <a:solidFill>
                  <a:schemeClr val="dk1"/>
                </a:solidFill>
              </a:rPr>
              <a:t>1280×720</a:t>
            </a:r>
            <a:r>
              <a:rPr lang="ru-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Архитектура проекта. Общий обзор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384999" y="1342925"/>
            <a:ext cx="11187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Архитектура: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MVC + State + Managers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простая и понятная структура для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pygame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где логика, данные и отображение не смешиваются.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Почему MVC: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хранит состояние проекта и сущностей;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обрабатывает ввод и решения игрока;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рисует офис и интерфейс. В отличие от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MVP/MVVM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архитектура не требует лишних UI-слоёв и биндингов, которых нет в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pygame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Ключевые компоненты: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Game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главный цикл и переключение состояний.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меню, игра, пауза, финал.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Entity / Model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игрок, сотрудники, задачи, события, ресурсы.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Managers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задачи, сотрудники, кризисы, коллизии, UI и ресурсы.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Renderer / View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карта, персонажи, HUD, диалоги.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Input / Controller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движение, взаимодействия и решения игрока.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Почему удобно для PM Simulator: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Легко добавлять новые задачи, кризисы и экраны; игровая логика отделена от отрисовки;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PlayState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не перегружается за счёт менеджеров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Архитектура проекта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25" y="2499413"/>
            <a:ext cx="12191999" cy="18591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4274550" y="1420288"/>
            <a:ext cx="364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/>
              <a:t>C4-схема компонентов 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653808" y="104358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1 Подбор сотрудника для задачи 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Зачем в проекте?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Помогает игроку распределять задачи: система рекомендует наиболее подходящего сотрудника.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Как реализован?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ui/kanban.py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entities/task.py</a:t>
            </a:r>
            <a:b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При открытии канбан-доски вычисляется рейтинг сотрудников, лучший вариант подсвечивается в интерфейсе.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задача, навык, загрузка и состояние сотрудников, дедлайн.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Выходные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рекомендуемый сотрудник.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Сложность: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время —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память —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где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число сотрудников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1550" y="4524363"/>
            <a:ext cx="360045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986118" y="756621"/>
            <a:ext cx="10586400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>
            <p:ph type="title"/>
          </p:nvPr>
        </p:nvSpPr>
        <p:spPr>
          <a:xfrm>
            <a:off x="1571517" y="76567"/>
            <a:ext cx="9111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653808" y="104358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Конечный автомат сотрудника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Зачем в проекте?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Управляет поведением сотрудников: ожидание, работа, проблема или выгорание.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Как реализован?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entities/employee.py</a:t>
            </a:r>
            <a:b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В игровом цикле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game.py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для каждого сотрудника вызывается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update(dt)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состояние, задача,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dt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мораль, нагрузка, решение игрока.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Выходные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новое состояние, прогресс задачи или кризис.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Сложность: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один сотрудник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O(1)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вся команда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O(n)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; память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O(1)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8700" y="4461975"/>
            <a:ext cx="3754600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>
            <a:off x="986118" y="756621"/>
            <a:ext cx="10586400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>
            <p:ph type="title"/>
          </p:nvPr>
        </p:nvSpPr>
        <p:spPr>
          <a:xfrm>
            <a:off x="1571517" y="76567"/>
            <a:ext cx="9111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653808" y="104358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Генерация кризисных событий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Зачем в проекте?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Создаёт проблемы не случайно, а на основе ошибок игрока и состояния проекта.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Как реализован?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game.py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entities/employee.py</a:t>
            </a:r>
            <a:b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Во время обновления сотрудника рассчитывается риск; при успешной проверке создаётся событие.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сложность задачи, навык сотрудника, нагрузка, дедлайн, мораль, техдолг.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Выходные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кризисное событие или его отсутствие.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Сложность: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время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O(n)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для команды, память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O(k)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для активных событий.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3400" y="4886313"/>
            <a:ext cx="4038600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986118" y="756621"/>
            <a:ext cx="10586400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type="title"/>
          </p:nvPr>
        </p:nvSpPr>
        <p:spPr>
          <a:xfrm>
            <a:off x="1571517" y="76567"/>
            <a:ext cx="9111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653808" y="104358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4 Проверка столкновений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Зачем в проекте?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Не позволяет игроку проходить сквозь стены, столы и офисные объекты.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Как реализован?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entities/player.py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вызов из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game.py</a:t>
            </a:r>
            <a:b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После перемещения проверяется пересечение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pygame.Rect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игрока с препятствиями.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позиция игрока, направление движения, скорость, список препятствий.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Выходные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допустимая позиция игрока.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Сложность: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время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O(m)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за кадр, память —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O(1)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где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— число объектов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5576" y="4497675"/>
            <a:ext cx="5056425" cy="23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/>
          <p:nvPr/>
        </p:nvSpPr>
        <p:spPr>
          <a:xfrm>
            <a:off x="986118" y="756621"/>
            <a:ext cx="10586400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>
            <p:ph type="title"/>
          </p:nvPr>
        </p:nvSpPr>
        <p:spPr>
          <a:xfrm>
            <a:off x="1571517" y="76567"/>
            <a:ext cx="9111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Алгоритмы</a:t>
            </a:r>
            <a:endParaRPr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653808" y="104358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5 Подсчёт финального счёта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Зачем в проекте?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Оценивает качество управления проектом после релиза или поражения.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Как реализован?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game.py</a:t>
            </a:r>
            <a:b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Алгоритм вызывается в конце игры и формирует итоговый результат.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выполненные задачи, сроки, качество, бюджет, мораль, доверие, техдолг.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Выходные данные: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итоговые очки и оценка игрока.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Сложность: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время —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, память — </a:t>
            </a:r>
            <a:r>
              <a:rPr lang="ru-RU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4583" y="4069983"/>
            <a:ext cx="5437425" cy="2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Тестирование	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869533" y="91058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Подход: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Автотесты проверяют игровую логику без запуска окна, ручные тесты — управление, интерфейс и игровой процесс.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Автоматические тесты — 10: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pytest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: подбор сотрудника, состояния команды, риск кризисов, последствия событий, финальный счёт, победа/поражение, сохранение рекорда.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Ручные тесты — 10: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Запуск игры, меню, управление, взаимодействия, коллизии, канбан-доска, диалоги, HUD, кризисы и финальные экраны.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Сценарные тесты — 5:</a:t>
            </a:r>
            <a:br>
              <a:rPr b="1" lang="ru-RU" sz="1800">
                <a:latin typeface="Arial"/>
                <a:ea typeface="Arial"/>
                <a:cs typeface="Arial"/>
                <a:sym typeface="Arial"/>
              </a:rPr>
            </a:br>
            <a:r>
              <a:rPr lang="ru-RU" sz="1800">
                <a:latin typeface="Arial"/>
                <a:ea typeface="Arial"/>
                <a:cs typeface="Arial"/>
                <a:sym typeface="Arial"/>
              </a:rPr>
              <a:t> Успешный релиз, проигрыш по бюджету, выгорание команды, падение качества продукта, обновление лучшего счёта.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Итого: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-RU" sz="1800">
                <a:latin typeface="Arial"/>
                <a:ea typeface="Arial"/>
                <a:cs typeface="Arial"/>
                <a:sym typeface="Arial"/>
              </a:rPr>
              <a:t>25 запланированных проверок</a:t>
            </a:r>
            <a:r>
              <a:rPr lang="ru-RU" sz="18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ru-RU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Стек технологий</a:t>
            </a:r>
            <a:endParaRPr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1056983" y="1342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ru-RU"/>
              <a:t>Python 3.13</a:t>
            </a:r>
            <a:r>
              <a:rPr lang="ru-RU"/>
              <a:t> - основной язык разработки.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ru-RU"/>
              <a:t>pygame 2.6.1</a:t>
            </a:r>
            <a:r>
              <a:rPr lang="ru-RU"/>
              <a:t> - библиотека для окна игры, отрисовки, обработки клавиатуры, мыши, времени и игрового цикла.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ru-RU"/>
              <a:t>pytest </a:t>
            </a:r>
            <a:r>
              <a:rPr lang="ru-RU"/>
              <a:t>- инструмент для автоматического тестирования игровой логики без запуска pygame-окна.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ru-RU"/>
              <a:t>JSON </a:t>
            </a:r>
            <a:r>
              <a:rPr lang="ru-RU"/>
              <a:t>- формат для хранения лучшего итогового счета в файле highscore.json.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193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Минималистичная графика через </a:t>
            </a:r>
            <a:r>
              <a:rPr b="1" lang="ru-RU"/>
              <a:t>pygame primitives</a:t>
            </a:r>
            <a:r>
              <a:rPr lang="ru-RU"/>
              <a:t> - в первой версии игрок, сотрудники, мебель и зоны офиса рисуются прямоугольниками и простыми фигурами.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История разработки</a:t>
            </a:r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 rotWithShape="1">
          <a:blip r:embed="rId5">
            <a:alphaModFix/>
          </a:blip>
          <a:srcRect b="50463" l="0" r="0" t="0"/>
          <a:stretch/>
        </p:blipFill>
        <p:spPr>
          <a:xfrm>
            <a:off x="84225" y="1395674"/>
            <a:ext cx="5647159" cy="41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6"/>
          <p:cNvPicPr preferRelativeResize="0"/>
          <p:nvPr/>
        </p:nvPicPr>
        <p:blipFill rotWithShape="1">
          <a:blip r:embed="rId5">
            <a:alphaModFix/>
          </a:blip>
          <a:srcRect b="4983" l="0" r="0" t="49175"/>
          <a:stretch/>
        </p:blipFill>
        <p:spPr>
          <a:xfrm>
            <a:off x="6265375" y="1395663"/>
            <a:ext cx="5926625" cy="40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>
            <p:ph type="title"/>
          </p:nvPr>
        </p:nvSpPr>
        <p:spPr>
          <a:xfrm>
            <a:off x="1571517" y="76567"/>
            <a:ext cx="9111712" cy="83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Демонстрация результатов	</a:t>
            </a:r>
            <a:endParaRPr/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663" y="966717"/>
            <a:ext cx="10053335" cy="564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/>
          <p:nvPr/>
        </p:nvSpPr>
        <p:spPr>
          <a:xfrm>
            <a:off x="986118" y="756621"/>
            <a:ext cx="10586400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>
            <p:ph type="title"/>
          </p:nvPr>
        </p:nvSpPr>
        <p:spPr>
          <a:xfrm>
            <a:off x="1571517" y="76567"/>
            <a:ext cx="9111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Демонстрация результатов	</a:t>
            </a:r>
            <a:endParaRPr/>
          </a:p>
        </p:txBody>
      </p:sp>
      <p:pic>
        <p:nvPicPr>
          <p:cNvPr id="231" name="Google Shape;23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100" y="871692"/>
            <a:ext cx="10103800" cy="564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848" y="216259"/>
            <a:ext cx="1282735" cy="44661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/>
        </p:nvSpPr>
        <p:spPr>
          <a:xfrm>
            <a:off x="986118" y="756621"/>
            <a:ext cx="10586400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" y="228173"/>
            <a:ext cx="917722" cy="43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>
            <p:ph type="title"/>
          </p:nvPr>
        </p:nvSpPr>
        <p:spPr>
          <a:xfrm>
            <a:off x="1571517" y="76567"/>
            <a:ext cx="91116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Демонстрация результатов	</a:t>
            </a:r>
            <a:endParaRPr/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8338" y="1050917"/>
            <a:ext cx="10041976" cy="564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